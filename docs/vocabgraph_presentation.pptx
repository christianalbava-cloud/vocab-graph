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5400" cy="685800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E81F"/>
                </a:solidFill>
              </a:rPr>
              <a:t>VocabGraph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82296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Tu vocabulario como una galaxia de conocimiento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Aprende inglés técnico con IA · Grafo interactivo · Conexiones semánticas automáticas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051560" cy="347472"/>
          </a:xfrm>
          <a:prstGeom prst="rect">
            <a:avLst/>
          </a:prstGeom>
          <a:solidFill>
            <a:srgbClr val="05103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6402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4754880"/>
            <a:ext cx="1051560" cy="347472"/>
          </a:xfrm>
          <a:prstGeom prst="rect">
            <a:avLst/>
          </a:prstGeom>
          <a:solidFill>
            <a:srgbClr val="051030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476402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754880"/>
            <a:ext cx="1051560" cy="347472"/>
          </a:xfrm>
          <a:prstGeom prst="rect">
            <a:avLst/>
          </a:prstGeom>
          <a:solidFill>
            <a:srgbClr val="051030"/>
          </a:solidFill>
          <a:ln w="1016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476402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E81F"/>
                </a:solidFill>
              </a:rPr>
              <a:t>D3.js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754880"/>
            <a:ext cx="1051560" cy="347472"/>
          </a:xfrm>
          <a:prstGeom prst="rect">
            <a:avLst/>
          </a:prstGeom>
          <a:solidFill>
            <a:srgbClr val="05103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476402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754880"/>
            <a:ext cx="1051560" cy="347472"/>
          </a:xfrm>
          <a:prstGeom prst="rect">
            <a:avLst/>
          </a:prstGeom>
          <a:solidFill>
            <a:srgbClr val="051030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476402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Groq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914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E81F"/>
                </a:solidFill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FC3F7"/>
                </a:solidFill>
              </a:rPr>
              <a:t>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19050"/>
          </a:xfrm>
          <a:prstGeom prst="rect">
            <a:avLst/>
          </a:prstGeom>
          <a:solidFill>
            <a:srgbClr val="1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45577"/>
                </a:solidFill>
              </a:rPr>
              <a:t>Herramienta personal para sistemas engineers hispanohablantes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E81F"/>
                </a:solidFill>
              </a:rPr>
              <a:t>El Flujo — Qué pasa cuando agregas una palabra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2194560" cy="5303520"/>
          </a:xfrm>
          <a:prstGeom prst="rect">
            <a:avLst/>
          </a:prstGeom>
          <a:solidFill>
            <a:srgbClr val="051030"/>
          </a:solidFill>
          <a:ln w="1524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194560" cy="54864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024128"/>
            <a:ext cx="594360" cy="594360"/>
          </a:xfrm>
          <a:prstGeom prst="ellipse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0241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14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Verificación ortográfica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017520"/>
            <a:ext cx="19751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La IA comprueba si la palabra está bien escrita.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"idempotant" → sugiere "idempotent"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3200400"/>
            <a:ext cx="292608" cy="2540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914400"/>
            <a:ext cx="2194560" cy="5303520"/>
          </a:xfrm>
          <a:prstGeom prst="rect">
            <a:avLst/>
          </a:prstGeom>
          <a:solidFill>
            <a:srgbClr val="051030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914400"/>
            <a:ext cx="219456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6432" y="1024128"/>
            <a:ext cx="594360" cy="5943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0241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14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 guarda el nodo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017520"/>
            <a:ext cx="19751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Aparece en el grafo 2D y 3D antes de que el modelo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genere cualquier contenido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3200400"/>
            <a:ext cx="292608" cy="2540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38344" y="914400"/>
            <a:ext cx="2194560" cy="5303520"/>
          </a:xfrm>
          <a:prstGeom prst="rect">
            <a:avLst/>
          </a:prstGeom>
          <a:solidFill>
            <a:srgbClr val="051030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8344" y="914400"/>
            <a:ext cx="219456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5584" y="1024128"/>
            <a:ext cx="594360" cy="5943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4" y="10241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14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Tarjeta en streaming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3017520"/>
            <a:ext cx="19751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DEFINITION · EXAMPLES · HOW TO SPEAK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IDEAS TO REMEMBER · RELATED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51192" y="3200400"/>
            <a:ext cx="292608" cy="2540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97496" y="914400"/>
            <a:ext cx="2194560" cy="5303520"/>
          </a:xfrm>
          <a:prstGeom prst="rect">
            <a:avLst/>
          </a:prstGeom>
          <a:solidFill>
            <a:srgbClr val="051030"/>
          </a:solidFill>
          <a:ln w="1524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97496" y="914400"/>
            <a:ext cx="2194560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74736" y="1024128"/>
            <a:ext cx="594360" cy="594360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10241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14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Nodos desde Related Words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4" y="3017520"/>
            <a:ext cx="19751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5 palabras sugeridas que no existen se crean como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nodos nuevos con enlace débil score 0.5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0344" y="3200400"/>
            <a:ext cx="292608" cy="2540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56648" y="914400"/>
            <a:ext cx="2194560" cy="5303520"/>
          </a:xfrm>
          <a:prstGeom prst="rect">
            <a:avLst/>
          </a:prstGeom>
          <a:solidFill>
            <a:srgbClr val="051030"/>
          </a:solidFill>
          <a:ln w="1524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56648" y="914400"/>
            <a:ext cx="2194560" cy="54864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33888" y="1024128"/>
            <a:ext cx="594360" cy="594360"/>
          </a:xfrm>
          <a:prstGeom prst="ellipse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33888" y="10241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14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737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088" y="2423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Similitud semántica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3017520"/>
            <a:ext cx="19751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Compara contra nodos existentes. ≥0.75 → línea verde</a:t>
            </a:r>
          </a:p>
          <a:p>
            <a:pPr algn="ctr">
              <a:spcBef>
                <a:spcPts val="400"/>
              </a:spcBef>
            </a:pPr>
            <a:r>
              <a:rPr sz="1000" b="0">
                <a:solidFill>
                  <a:srgbClr val="8899BB"/>
                </a:solidFill>
              </a:rPr>
              <a:t>0.50-0.74 → línea gris  ·  &lt;0.50 → sin enlace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6355080"/>
            <a:ext cx="11567160" cy="384048"/>
          </a:xfrm>
          <a:prstGeom prst="rect">
            <a:avLst/>
          </a:prstGeom>
          <a:solidFill>
            <a:srgbClr val="060F28"/>
          </a:solidFill>
          <a:ln w="762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73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E81F"/>
                </a:solidFill>
              </a:rPr>
              <a:t>⚡  Los pasos 3 y 5 corren en paralelo. Los nodos creados en el paso 4 no son visibles para la similitud del paso 5. Usa ↻ Re-search para recalcular con todos los nodos.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E81F"/>
                </a:solidFill>
              </a:rPr>
              <a:t>Tabs de aprendizaje y Categorías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503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68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52728"/>
            <a:ext cx="2103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Definición + 3 ejemplos con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contexto. Palabra resaltada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con &lt;&lt;chevron&gt;&gt;.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7772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777240"/>
            <a:ext cx="2286000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8503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86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Speak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252728"/>
            <a:ext cx="2103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3 frases listas para decir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en reuniones de trabajo.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Oraciones completas.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148840"/>
            <a:ext cx="2286000" cy="36576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2402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E81F"/>
                </a:solidFill>
              </a:rPr>
              <a:t>Ideas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624328"/>
            <a:ext cx="2103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3 trucos mnemotécnicos y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analogías usando conceptos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de ingeniería.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1488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2148840"/>
            <a:ext cx="2286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2402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Tenses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624328"/>
            <a:ext cx="2103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7 tiempos verbales + 3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ejemplos cada uno. Si no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es verbo, lo explica.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204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6118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</a:rPr>
              <a:t>Similar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2103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Ranking de palabras más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cercanas. Cálculo nuevo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8899BB"/>
                </a:solidFill>
              </a:rPr>
              <a:t>al modelo en tiempo real.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3520440"/>
            <a:ext cx="2286000" cy="1280160"/>
          </a:xfrm>
          <a:prstGeom prst="rect">
            <a:avLst/>
          </a:prstGeom>
          <a:solidFill>
            <a:srgbClr val="051030"/>
          </a:solidFill>
          <a:ln w="1016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35935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Tiempos en Tenses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90448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INFINITIVE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PRESENT SIMPLE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PRESENT CONTINUOUS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PAST SIMPLE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PAST PARTICIPLE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FUTURE SIMPLE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8899BB"/>
                </a:solidFill>
              </a:rPr>
              <a:t>• PRESENT PERFECT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7498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E81F"/>
                </a:solidFill>
              </a:rPr>
              <a:t>Categorías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1143000"/>
            <a:ext cx="6400800" cy="1905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1234440"/>
            <a:ext cx="6400800" cy="1554480"/>
          </a:xfrm>
          <a:prstGeom prst="rect">
            <a:avLst/>
          </a:prstGeom>
          <a:solidFill>
            <a:srgbClr val="0D204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134416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● Concept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170992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Idea técnica o abstracta. Una sola palabra.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209397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8899"/>
                </a:solidFill>
              </a:rPr>
              <a:t>latency · idempotent · deadlock · bottleneck · scalability · throughput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898648"/>
            <a:ext cx="6400800" cy="1554480"/>
          </a:xfrm>
          <a:prstGeom prst="rect">
            <a:avLst/>
          </a:prstGeom>
          <a:solidFill>
            <a:srgbClr val="08201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0083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● Phrase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3374136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Expresión fija del idioma. Significado no deducible de palabras individuales.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375818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8899"/>
                </a:solidFill>
              </a:rPr>
              <a:t>moving forward · touch base · back and forth · loop me in · circle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4562856"/>
            <a:ext cx="6400800" cy="1554480"/>
          </a:xfrm>
          <a:prstGeom prst="rect">
            <a:avLst/>
          </a:prstGeom>
          <a:solidFill>
            <a:srgbClr val="180A30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4672584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2A8FF"/>
                </a:solidFill>
              </a:rPr>
              <a:t>● Composed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5038344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Expresión construida con Phrase Builder desde nodos existentes del grafo.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54223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8899"/>
                </a:solidFill>
              </a:rPr>
              <a:t>idempotent retry loop · low-latency peer exchange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E81F"/>
                </a:solidFill>
              </a:rPr>
              <a:t>Scores, Connections y Semantic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5394960" cy="5120640"/>
          </a:xfrm>
          <a:prstGeom prst="rect">
            <a:avLst/>
          </a:prstGeom>
          <a:solidFill>
            <a:srgbClr val="05103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5394960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321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SCORE — Fuerza del enlace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161288"/>
            <a:ext cx="517550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≥ 0.75  →  Línea GRUESA VERDE — relación fuerte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0.50–0.74  →  Línea DELGADA GRIS — mismo vecindario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0.50 fijo  →  Nodos de Related Words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&lt; 0.50  →  Sin enlace en el grafo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Ejemplos reales: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deadlock ↔ race condition  →  0.82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bandwidth ↔ throughput  →  0.80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latency ↔ throughput  →  0.72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8899BB"/>
                </a:solidFill>
              </a:rPr>
              <a:t>back and forth ↔ moving forward  →  0.08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Semantic Connections  vs  Semantic Similarity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170432"/>
            <a:ext cx="59436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261872"/>
            <a:ext cx="2788920" cy="4297680"/>
          </a:xfrm>
          <a:prstGeom prst="rect">
            <a:avLst/>
          </a:prstGeom>
          <a:solidFill>
            <a:srgbClr val="001238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261872"/>
            <a:ext cx="278892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🔗 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Líneas dibujadas en el grafo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Guardadas en SQLite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Persisten entre sesiones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Se crean: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Al agregar una palabra (score ≥ 0.5)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Desde Related Words (score 0.5)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Via Phrase Builder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4FC3F7"/>
                </a:solidFill>
              </a:rPr>
              <a:t>= Historial guardado del grafo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261872"/>
            <a:ext cx="2788920" cy="4297680"/>
          </a:xfrm>
          <a:prstGeom prst="rect">
            <a:avLst/>
          </a:prstGeom>
          <a:solidFill>
            <a:srgbClr val="221A00"/>
          </a:solidFill>
          <a:ln w="1524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261872"/>
            <a:ext cx="2788920" cy="4572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81F"/>
                </a:solidFill>
              </a:rPr>
              <a:t>⚡ 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Cálculo nuevo al modelo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Se pide bajo demanda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Resultado en tiempo real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Cuándo ocurre: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Auto al agregar una palabra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Al abrir el tab Similar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>• Al presionar ↻ Re-search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8899BB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E81F"/>
                </a:solidFill>
              </a:rPr>
              <a:t>= Consulta fresca, nuevo ranking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5687568"/>
            <a:ext cx="5943600" cy="960120"/>
          </a:xfrm>
          <a:prstGeom prst="rect">
            <a:avLst/>
          </a:prstGeom>
          <a:solidFill>
            <a:srgbClr val="03081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742432"/>
            <a:ext cx="5715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</a:rPr>
              <a:t>📌 Ejemplo: Agregas "bottleneck" con 10 nodos → Connections crea 2 líneas. Tres semanas después con 60 nodos → el tab Similar recalcula y encuentra 4 nuevas relaciones. Esas 4 no tienen línea todavía.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E81F"/>
                </a:solidFill>
              </a:rPr>
              <a:t>Funcionalidades Extra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2212848" cy="5669280"/>
          </a:xfrm>
          <a:prstGeom prst="rect">
            <a:avLst/>
          </a:prstGeom>
          <a:solidFill>
            <a:srgbClr val="001030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212848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</a:rPr>
              <a:t>⚖️  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261872"/>
            <a:ext cx="1993392" cy="1905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199339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Sube en 1 cada vez que seleccionas una palabra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En vista 3D: tamaño del nodo ∝ peso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Indicador visual de tu historial de estudio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Nodo grande = revisado frecuentemente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No afecta lógica de enlaces ni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777240"/>
            <a:ext cx="2212848" cy="5669280"/>
          </a:xfrm>
          <a:prstGeom prst="rect">
            <a:avLst/>
          </a:prstGeom>
          <a:solidFill>
            <a:srgbClr val="100528"/>
          </a:solidFill>
          <a:ln w="1524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24328" y="777240"/>
            <a:ext cx="2212848" cy="5029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8412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A8FF"/>
                </a:solidFill>
              </a:rPr>
              <a:t>🌐  Vista 3D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4056" y="1261872"/>
            <a:ext cx="1993392" cy="1905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1371600"/>
            <a:ext cx="199339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Mismo grafo en tres dimensiones (Three.js)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Nodos agrupados por categoría en el espacio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Tamaño proporcional al weight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Rotación automática con el mouse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Mismos tabs, mismos filtros que 2D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777240"/>
            <a:ext cx="2212848" cy="5669280"/>
          </a:xfrm>
          <a:prstGeom prst="rect">
            <a:avLst/>
          </a:prstGeom>
          <a:solidFill>
            <a:srgbClr val="051808"/>
          </a:solidFill>
          <a:ln w="1524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28616" y="777240"/>
            <a:ext cx="2212848" cy="502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4" y="8412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📦  Export / Import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8344" y="1261872"/>
            <a:ext cx="1993392" cy="1905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1371600"/>
            <a:ext cx="199339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Export: JSON completo (nodos, links, tarjetas, peso)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Import Merge: agrega solo lo que no existe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Import Replace: borra todo y restaura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Las tarjetas guardadas se importan también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Útil para respaldo y migración entre máquinas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2904" y="777240"/>
            <a:ext cx="2212848" cy="5669280"/>
          </a:xfrm>
          <a:prstGeom prst="rect">
            <a:avLst/>
          </a:prstGeom>
          <a:solidFill>
            <a:srgbClr val="280800"/>
          </a:solidFill>
          <a:ln w="1524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32904" y="777240"/>
            <a:ext cx="2212848" cy="50292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2" y="8412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166"/>
                </a:solidFill>
              </a:rPr>
              <a:t>↻  Re-search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2632" y="1261872"/>
            <a:ext cx="1993392" cy="1905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2" y="1371600"/>
            <a:ext cx="199339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Borra tarjeta guardada (DB + memoria)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Borra caché de Tenses y Similarity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Regenera tarjeta en streaming desde cero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Recalcula similitud con todos los nodos actuales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2ª vez: Related Words ya existen → más conexiones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37192" y="777240"/>
            <a:ext cx="2212848" cy="5669280"/>
          </a:xfrm>
          <a:prstGeom prst="rect">
            <a:avLst/>
          </a:prstGeom>
          <a:solidFill>
            <a:srgbClr val="282200"/>
          </a:solidFill>
          <a:ln w="15240">
            <a:solidFill>
              <a:srgbClr val="FFE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37192" y="777240"/>
            <a:ext cx="2212848" cy="50292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84124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81F"/>
                </a:solidFill>
              </a:rPr>
              <a:t>🤖  Ollama vs Groq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1261872"/>
            <a:ext cx="1993392" cy="19050"/>
          </a:xfrm>
          <a:prstGeom prst="rect">
            <a:avLst/>
          </a:prstGeom>
          <a:solidFill>
            <a:srgbClr val="FFE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1371600"/>
            <a:ext cx="199339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Ollama: local, sin internet, sin límites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56677"/>
                </a:solidFill>
              </a:rPr>
              <a:t>   Modelo: qwen2.5-coder:7b  (~4-5 GB RAM)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8899BB"/>
                </a:solidFill>
              </a:rPr>
              <a:t>Groq: nube, ultra-rápido, free tier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56677"/>
                </a:solidFill>
              </a:rPr>
              <a:t>   Modelo: llama-3.3-70b-versatile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556677"/>
                </a:solidFill>
              </a:rPr>
              <a:t>   Límite: 14,400 requests/día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19050"/>
          </a:xfrm>
          <a:prstGeom prst="rect">
            <a:avLst/>
          </a:prstGeom>
          <a:solidFill>
            <a:srgbClr val="1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66"/>
                </a:solidFill>
              </a:rPr>
              <a:t>May the vocabulary be with you  ✦  VocabGraph · FastAPI · SQLite · D3.js · Three.js · Ollama · Groq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